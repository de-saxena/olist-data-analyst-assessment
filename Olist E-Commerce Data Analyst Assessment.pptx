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a8143f7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a8143f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a8143f7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a8143f7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a8143f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a8143f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a8143f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aa8143f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a8143f7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a8143f7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a8143f7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a8143f7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/>
              <a:t>Olist E-Commerce Delivery &amp; Customer Experience Analysis</a:t>
            </a:r>
            <a:r>
              <a:rPr lang="en-GB" sz="2200"/>
              <a:t> </a:t>
            </a:r>
            <a:endParaRPr sz="6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Analyzing delivery performance, customer satisfaction, order value and geographic variation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Data &amp; Methodology</a:t>
            </a:r>
            <a:r>
              <a:rPr lang="en-GB" sz="2300"/>
              <a:t> </a:t>
            </a:r>
            <a:endParaRPr sz="40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Dataset:</a:t>
            </a:r>
            <a:r>
              <a:rPr lang="en-GB" sz="1600">
                <a:solidFill>
                  <a:schemeClr val="dk1"/>
                </a:solidFill>
              </a:rPr>
              <a:t> Olist Brazilian E-Commerce Public Dataset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Source:</a:t>
            </a:r>
            <a:r>
              <a:rPr lang="en-GB" sz="1600">
                <a:solidFill>
                  <a:schemeClr val="dk1"/>
                </a:solidFill>
              </a:rPr>
              <a:t> Olist / Kaggle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Data scale:</a:t>
            </a:r>
            <a:r>
              <a:rPr lang="en-GB" sz="1600">
                <a:solidFill>
                  <a:schemeClr val="dk1"/>
                </a:solidFill>
              </a:rPr>
              <a:t> 99K+ orders across multiple related datasets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Tools:</a:t>
            </a:r>
            <a:r>
              <a:rPr lang="en-GB" sz="1600">
                <a:solidFill>
                  <a:schemeClr val="dk1"/>
                </a:solidFill>
              </a:rPr>
              <a:t> Python, Pandas, NumPy, Matplotlib, Seaborn &amp; Google Looker Studio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Processing:</a:t>
            </a:r>
            <a:r>
              <a:rPr lang="en-GB" sz="1600">
                <a:solidFill>
                  <a:schemeClr val="dk1"/>
                </a:solidFill>
              </a:rPr>
              <a:t> Data cleaning, datetime conversion, duplicate checks, joins, calculated fields, outlier checks and aggregation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Analysis focus:</a:t>
            </a:r>
            <a:r>
              <a:rPr lang="en-GB" sz="1600">
                <a:solidFill>
                  <a:schemeClr val="dk1"/>
                </a:solidFill>
              </a:rPr>
              <a:t> Delivery performance, late deliveries, customer reviews, order value and state-level differences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Key Findings</a:t>
            </a:r>
            <a:r>
              <a:rPr lang="en-GB" sz="2500"/>
              <a:t> </a:t>
            </a:r>
            <a:endParaRPr sz="42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8.11%</a:t>
            </a:r>
            <a:r>
              <a:rPr lang="en-GB" sz="2000">
                <a:solidFill>
                  <a:schemeClr val="dk1"/>
                </a:solidFill>
              </a:rPr>
              <a:t> of delivered orders were late.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Late orders took </a:t>
            </a:r>
            <a:r>
              <a:rPr b="1" lang="en-GB" sz="2000">
                <a:solidFill>
                  <a:schemeClr val="dk1"/>
                </a:solidFill>
              </a:rPr>
              <a:t>31.52 days</a:t>
            </a:r>
            <a:r>
              <a:rPr lang="en-GB" sz="2000">
                <a:solidFill>
                  <a:schemeClr val="dk1"/>
                </a:solidFill>
              </a:rPr>
              <a:t> on average vs </a:t>
            </a:r>
            <a:r>
              <a:rPr b="1" lang="en-GB" sz="2000">
                <a:solidFill>
                  <a:schemeClr val="dk1"/>
                </a:solidFill>
              </a:rPr>
              <a:t>10.88 days</a:t>
            </a:r>
            <a:r>
              <a:rPr lang="en-GB" sz="2000">
                <a:solidFill>
                  <a:schemeClr val="dk1"/>
                </a:solidFill>
              </a:rPr>
              <a:t> for on-time orders.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Average review score was </a:t>
            </a:r>
            <a:r>
              <a:rPr b="1" lang="en-GB" sz="2000">
                <a:solidFill>
                  <a:schemeClr val="dk1"/>
                </a:solidFill>
              </a:rPr>
              <a:t>2.57</a:t>
            </a:r>
            <a:r>
              <a:rPr lang="en-GB" sz="2000">
                <a:solidFill>
                  <a:schemeClr val="dk1"/>
                </a:solidFill>
              </a:rPr>
              <a:t> for late orders vs </a:t>
            </a:r>
            <a:r>
              <a:rPr b="1" lang="en-GB" sz="2000">
                <a:solidFill>
                  <a:schemeClr val="dk1"/>
                </a:solidFill>
              </a:rPr>
              <a:t>4.29</a:t>
            </a:r>
            <a:r>
              <a:rPr lang="en-GB" sz="2000">
                <a:solidFill>
                  <a:schemeClr val="dk1"/>
                </a:solidFill>
              </a:rPr>
              <a:t> for on-time orders.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Late delivery rates varied significantly by state, with </a:t>
            </a:r>
            <a:r>
              <a:rPr b="1" lang="en-GB" sz="2000">
                <a:solidFill>
                  <a:schemeClr val="dk1"/>
                </a:solidFill>
              </a:rPr>
              <a:t>CE at 15.32%</a:t>
            </a:r>
            <a:r>
              <a:rPr lang="en-GB" sz="2000">
                <a:solidFill>
                  <a:schemeClr val="dk1"/>
                </a:solidFill>
              </a:rPr>
              <a:t> vs </a:t>
            </a:r>
            <a:r>
              <a:rPr b="1" lang="en-GB" sz="2000">
                <a:solidFill>
                  <a:schemeClr val="dk1"/>
                </a:solidFill>
              </a:rPr>
              <a:t>SP at 5.89%</a:t>
            </a:r>
            <a:r>
              <a:rPr lang="en-GB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High-risk sellers with at least 100 orders showed late rates of </a:t>
            </a:r>
            <a:r>
              <a:rPr b="1" lang="en-GB" sz="2000">
                <a:solidFill>
                  <a:schemeClr val="dk1"/>
                </a:solidFill>
              </a:rPr>
              <a:t>up to ~23%</a:t>
            </a:r>
            <a:r>
              <a:rPr lang="en-GB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/>
              <a:t>Deep Dive: Delivery Performance</a:t>
            </a:r>
            <a:r>
              <a:rPr lang="en-GB" sz="2200"/>
              <a:t> </a:t>
            </a:r>
            <a:endParaRPr sz="39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Overall late delivery rate:</a:t>
            </a:r>
            <a:r>
              <a:rPr lang="en-GB" sz="1900">
                <a:solidFill>
                  <a:schemeClr val="dk1"/>
                </a:solidFill>
              </a:rPr>
              <a:t> 8.11%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Average delivery time:</a:t>
            </a:r>
            <a:r>
              <a:rPr lang="en-GB" sz="1900">
                <a:solidFill>
                  <a:schemeClr val="dk1"/>
                </a:solidFill>
              </a:rPr>
              <a:t> 12.56 days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Late orders:</a:t>
            </a:r>
            <a:r>
              <a:rPr lang="en-GB" sz="1900">
                <a:solidFill>
                  <a:schemeClr val="dk1"/>
                </a:solidFill>
              </a:rPr>
              <a:t> 7,826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On-time orders:</a:t>
            </a:r>
            <a:r>
              <a:rPr lang="en-GB" sz="1900">
                <a:solidFill>
                  <a:schemeClr val="dk1"/>
                </a:solidFill>
              </a:rPr>
              <a:t> 88,644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Highest state late rate:</a:t>
            </a:r>
            <a:r>
              <a:rPr lang="en-GB" sz="1900">
                <a:solidFill>
                  <a:schemeClr val="dk1"/>
                </a:solidFill>
              </a:rPr>
              <a:t> CE — 15.32%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Lowest state late rate among major states:</a:t>
            </a:r>
            <a:r>
              <a:rPr lang="en-GB" sz="1900">
                <a:solidFill>
                  <a:schemeClr val="dk1"/>
                </a:solidFill>
              </a:rPr>
              <a:t> SP — 5.89%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</a:rPr>
              <a:t>Late deliveries are strongly associated with lower customer review scores.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/>
              <a:t>Actionable Recommendations</a:t>
            </a:r>
            <a:r>
              <a:rPr lang="en-GB" sz="2200"/>
              <a:t> </a:t>
            </a:r>
            <a:endParaRPr sz="39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1. Improve high-risk seller performance</a:t>
            </a:r>
            <a:br>
              <a:rPr b="1" lang="en-GB" sz="1900">
                <a:solidFill>
                  <a:schemeClr val="dk1"/>
                </a:solidFill>
              </a:rPr>
            </a:br>
            <a:r>
              <a:rPr lang="en-GB" sz="1900">
                <a:solidFill>
                  <a:schemeClr val="dk1"/>
                </a:solidFill>
              </a:rPr>
              <a:t> Target sellers with consistently high late-delivery rates and review their logistics/SLA performance.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2. Prioritize high-risk states</a:t>
            </a:r>
            <a:br>
              <a:rPr b="1" lang="en-GB" sz="1900">
                <a:solidFill>
                  <a:schemeClr val="dk1"/>
                </a:solidFill>
              </a:rPr>
            </a:br>
            <a:r>
              <a:rPr lang="en-GB" sz="1900">
                <a:solidFill>
                  <a:schemeClr val="dk1"/>
                </a:solidFill>
              </a:rPr>
              <a:t> Focus logistics improvement efforts on states such as </a:t>
            </a:r>
            <a:r>
              <a:rPr b="1" lang="en-GB" sz="1900">
                <a:solidFill>
                  <a:schemeClr val="dk1"/>
                </a:solidFill>
              </a:rPr>
              <a:t>CE, BA, RJ and ES</a:t>
            </a:r>
            <a:r>
              <a:rPr lang="en-GB" sz="1900">
                <a:solidFill>
                  <a:schemeClr val="dk1"/>
                </a:solidFill>
              </a:rPr>
              <a:t>, which show higher late-delivery rates.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3. Introduce proactive delay communication</a:t>
            </a:r>
            <a:br>
              <a:rPr b="1" lang="en-GB" sz="1900">
                <a:solidFill>
                  <a:schemeClr val="dk1"/>
                </a:solidFill>
              </a:rPr>
            </a:br>
            <a:r>
              <a:rPr lang="en-GB" sz="1900">
                <a:solidFill>
                  <a:schemeClr val="dk1"/>
                </a:solidFill>
              </a:rPr>
              <a:t> Identify delayed orders early and provide customers with timely delivery updates.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Expected Business Impact </a:t>
            </a:r>
            <a:endParaRPr b="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Lower late-delivery rate</a:t>
            </a:r>
            <a:r>
              <a:rPr lang="en-GB" sz="1600">
                <a:solidFill>
                  <a:schemeClr val="dk1"/>
                </a:solidFill>
              </a:rPr>
              <a:t> through targeted seller and logistics interventions.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Faster deliveries</a:t>
            </a:r>
            <a:r>
              <a:rPr lang="en-GB" sz="1600">
                <a:solidFill>
                  <a:schemeClr val="dk1"/>
                </a:solidFill>
              </a:rPr>
              <a:t> by focusing resources on high-risk states and sellers.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Higher customer satisfaction</a:t>
            </a:r>
            <a:r>
              <a:rPr lang="en-GB" sz="1600">
                <a:solidFill>
                  <a:schemeClr val="dk1"/>
                </a:solidFill>
              </a:rPr>
              <a:t> by reducing delivery-related dissatisfaction.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Better operational visibility</a:t>
            </a:r>
            <a:r>
              <a:rPr lang="en-GB" sz="1600">
                <a:solidFill>
                  <a:schemeClr val="dk1"/>
                </a:solidFill>
              </a:rPr>
              <a:t> through KPI monitoring and interactive dashboard filters.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Improved decision-making</a:t>
            </a:r>
            <a:r>
              <a:rPr lang="en-GB" sz="1600">
                <a:solidFill>
                  <a:schemeClr val="dk1"/>
                </a:solidFill>
              </a:rPr>
              <a:t> by prioritizing actions using delivery and customer-review data.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Success metrics: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Late delivery rate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Average delivery time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Average review score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Share of on-time orders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Limitations &amp; Next Steps</a:t>
            </a:r>
            <a:r>
              <a:rPr lang="en-GB" sz="2400"/>
              <a:t> </a:t>
            </a:r>
            <a:endParaRPr sz="41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544"/>
              <a:buFont typeface="Arial"/>
              <a:buNone/>
            </a:pPr>
            <a:r>
              <a:rPr b="1" lang="en-GB" sz="2093">
                <a:solidFill>
                  <a:schemeClr val="dk1"/>
                </a:solidFill>
              </a:rPr>
              <a:t>Limitations</a:t>
            </a:r>
            <a:endParaRPr b="1"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Some delivered orders had missing delivery dates and were excluded from delivery-time analysis.</a:t>
            </a:r>
            <a:endParaRPr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Review scores were missing for a small number of orders.</a:t>
            </a:r>
            <a:endParaRPr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Extreme delivery-time outliers were present in the data.</a:t>
            </a:r>
            <a:endParaRPr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The analysis is observational, so it cannot prove that late delivery </a:t>
            </a:r>
            <a:r>
              <a:rPr b="1" lang="en-GB" sz="2093">
                <a:solidFill>
                  <a:schemeClr val="dk1"/>
                </a:solidFill>
              </a:rPr>
              <a:t>caused</a:t>
            </a:r>
            <a:r>
              <a:rPr lang="en-GB" sz="2093">
                <a:solidFill>
                  <a:schemeClr val="dk1"/>
                </a:solidFill>
              </a:rPr>
              <a:t> lower review scores.</a:t>
            </a:r>
            <a:endParaRPr sz="209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544"/>
              <a:buFont typeface="Arial"/>
              <a:buNone/>
            </a:pPr>
            <a:r>
              <a:rPr b="1" lang="en-GB" sz="2093">
                <a:solidFill>
                  <a:schemeClr val="dk1"/>
                </a:solidFill>
              </a:rPr>
              <a:t>Next Steps</a:t>
            </a:r>
            <a:endParaRPr b="1"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Investigate root causes of delays by seller and region.</a:t>
            </a:r>
            <a:endParaRPr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Monitor high-risk sellers and states regularly.</a:t>
            </a:r>
            <a:endParaRPr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Build an alert system for potentially delayed orders.</a:t>
            </a:r>
            <a:endParaRPr sz="2093">
              <a:solidFill>
                <a:schemeClr val="dk1"/>
              </a:solidFill>
            </a:endParaRPr>
          </a:p>
          <a:p>
            <a:pPr indent="-3216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93">
                <a:solidFill>
                  <a:schemeClr val="dk1"/>
                </a:solidFill>
              </a:rPr>
              <a:t>Track late-delivery and customer-satisfaction KPIs over time.</a:t>
            </a:r>
            <a:endParaRPr sz="209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